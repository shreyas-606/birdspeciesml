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914400"/>
            <a:ext cx="1051560" cy="105156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1508760"/>
            <a:ext cx="566928" cy="566928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78240" y="1828800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52760" y="731520"/>
            <a:ext cx="292608" cy="29260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132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Aptos"/>
              </a:rPr>
              <a:t>MACHINE LEARNING  · 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68096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5F8FC"/>
                </a:solidFill>
                <a:latin typeface="Aptos"/>
              </a:rPr>
              <a:t>Bird Species
Identification from an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52928"/>
            <a:ext cx="676656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AEBED2"/>
                </a:solidFill>
                <a:latin typeface="Aptos"/>
              </a:rPr>
              <a:t>Reproducing an attribute-based classification study
and extending it with one additional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48072"/>
            <a:ext cx="58978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 dirty="0">
                <a:solidFill>
                  <a:srgbClr val="67E8F9"/>
                </a:solidFill>
                <a:latin typeface="Aptos"/>
              </a:rPr>
              <a:t>PART 1  ·  REPRODUCE        PART 2  ·  EXTEND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4A4BDBF4-5FAB-19B5-4482-8248315CA3E1}"/>
              </a:ext>
            </a:extLst>
          </p:cNvPr>
          <p:cNvSpPr/>
          <p:nvPr/>
        </p:nvSpPr>
        <p:spPr>
          <a:xfrm>
            <a:off x="731520" y="5000972"/>
            <a:ext cx="6309360" cy="763368"/>
          </a:xfrm>
          <a:prstGeom prst="roundRect">
            <a:avLst/>
          </a:prstGeom>
          <a:solidFill>
            <a:srgbClr val="142742"/>
          </a:solidFill>
          <a:ln>
            <a:solidFill>
              <a:srgbClr val="14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7132320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2000" dirty="0">
                <a:solidFill>
                  <a:srgbClr val="AEBED2"/>
                </a:solidFill>
                <a:latin typeface="Aptos"/>
              </a:rPr>
              <a:t>PES2IG24CS656 –  S Shreyas Kumar</a:t>
            </a:r>
          </a:p>
          <a:p>
            <a:pPr algn="l"/>
            <a:r>
              <a:rPr lang="en-US" sz="2000" b="0" i="0" dirty="0">
                <a:solidFill>
                  <a:srgbClr val="AEBED2"/>
                </a:solidFill>
                <a:latin typeface="Aptos"/>
              </a:rPr>
              <a:t>PES2UG24VS652 - Raksha</a:t>
            </a:r>
            <a:endParaRPr sz="2000" b="0" i="0" dirty="0">
              <a:solidFill>
                <a:srgbClr val="AEBED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6236208"/>
            <a:ext cx="7132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AEBED2"/>
                </a:solidFill>
                <a:latin typeface="Aptos"/>
              </a:rPr>
              <a:t>Reference: “Bird Species Identification from an Image”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26536B-4D59-14B8-DE76-E3880074A5BD}"/>
              </a:ext>
            </a:extLst>
          </p:cNvPr>
          <p:cNvSpPr txBox="1"/>
          <p:nvPr/>
        </p:nvSpPr>
        <p:spPr>
          <a:xfrm>
            <a:off x="731520" y="4431960"/>
            <a:ext cx="4438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Team Number : 06            Project Number : 89</a:t>
            </a:r>
            <a:endParaRPr lang="en-IN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80467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Problem Statement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5440" y="219456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2DD4BF"/>
                </a:solidFill>
                <a:latin typeface="Aptos"/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95528"/>
            <a:ext cx="1110996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EBED2"/>
                </a:solidFill>
                <a:latin typeface="Aptos"/>
              </a:rPr>
              <a:t>Bird Species Identification from an Image  ·  Machine Learning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7C4D5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87552"/>
            <a:ext cx="5303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Aptos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07592"/>
            <a:ext cx="521208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F5F8FC"/>
                </a:solidFill>
                <a:latin typeface="Aptos"/>
              </a:rPr>
              <a:t>Goal: classify a bird species from its annotated visual attributes. The current notebook uses structured attribute data—not raw image pixels—as model input.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5212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Aptos"/>
              </a:rP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99232"/>
            <a:ext cx="5303520" cy="21488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1. Reproduce the reference paper's reported experiments.</a:t>
            </a:r>
          </a:p>
          <a:p>
            <a:pPr>
              <a:spcAft>
                <a:spcPts val="10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2. Compare our implementation with the paper's reported results.</a:t>
            </a:r>
          </a:p>
          <a:p>
            <a:pPr>
              <a:spcAft>
                <a:spcPts val="10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3. Add one model not used in the reference and evaluate it fairly.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2331720" cy="1143000"/>
          </a:xfrm>
          <a:prstGeom prst="roundRect">
            <a:avLst/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271016"/>
            <a:ext cx="2112263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2DD4BF"/>
                </a:solidFill>
                <a:latin typeface="Aptos"/>
              </a:rPr>
              <a:t>11,788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783080"/>
            <a:ext cx="2112263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AEBED2"/>
                </a:solidFill>
                <a:latin typeface="Aptos"/>
              </a:rPr>
              <a:t>bird 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143000"/>
            <a:ext cx="2331720" cy="1143000"/>
          </a:xfrm>
          <a:prstGeom prst="roundRect">
            <a:avLst/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33688" y="1271016"/>
            <a:ext cx="2112263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67E8F9"/>
                </a:solidFill>
                <a:latin typeface="Aptos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3688" y="1783080"/>
            <a:ext cx="2112263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AEBED2"/>
                </a:solidFill>
                <a:latin typeface="Aptos"/>
              </a:rPr>
              <a:t>species/classes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514600"/>
            <a:ext cx="2331720" cy="1143000"/>
          </a:xfrm>
          <a:prstGeom prst="roundRect">
            <a:avLst/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2642616"/>
            <a:ext cx="2112263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FBBF24"/>
                </a:solidFill>
                <a:latin typeface="Aptos"/>
              </a:rPr>
              <a:t>312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154680"/>
            <a:ext cx="2112263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AEBED2"/>
                </a:solidFill>
                <a:latin typeface="Aptos"/>
              </a:rPr>
              <a:t>binary attributes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514600"/>
            <a:ext cx="2331720" cy="1143000"/>
          </a:xfrm>
          <a:prstGeom prst="roundRect">
            <a:avLst/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33688" y="2642616"/>
            <a:ext cx="2112263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4ADE80"/>
                </a:solidFill>
                <a:latin typeface="Aptos"/>
              </a:rPr>
              <a:t>3,677,856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8" y="3154680"/>
            <a:ext cx="2112263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AEBED2"/>
                </a:solidFill>
                <a:latin typeface="Aptos"/>
              </a:rPr>
              <a:t>attribute annotations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77639"/>
            <a:ext cx="4892040" cy="1508760"/>
          </a:xfrm>
          <a:prstGeom prst="roundRect">
            <a:avLst/>
          </a:prstGeom>
          <a:solidFill>
            <a:srgbClr val="142742"/>
          </a:solidFill>
          <a:ln>
            <a:solidFill>
              <a:srgbClr val="14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160520"/>
            <a:ext cx="4480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Aptos"/>
              </a:rPr>
              <a:t>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98848"/>
            <a:ext cx="44805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5F8FC"/>
                </a:solidFill>
                <a:latin typeface="Aptos"/>
              </a:rPr>
              <a:t>CUB-200-2011 (Caltech-UCSD Birds)
Inputs: 312 annotated attributes per image
Target: one of 200 bird species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71500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Aptos"/>
              </a:rPr>
              <a:t>Important scope note: the current attribute-based classifiers do not directly classify a newly uploaded photograph.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80467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Methodology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5440" y="219456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2DD4BF"/>
                </a:solidFill>
                <a:latin typeface="Aptos"/>
              </a:rPr>
              <a:t>BOTH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95528"/>
            <a:ext cx="1110996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EBED2"/>
                </a:solidFill>
                <a:latin typeface="Aptos"/>
              </a:rPr>
              <a:t>Bird Species Identification from an Image  ·  Machine Learning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7C4D5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417320" cy="1965960"/>
          </a:xfrm>
          <a:prstGeom prst="roundRect">
            <a:avLst/>
          </a:prstGeom>
          <a:solidFill>
            <a:srgbClr val="1E3552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1234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271016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87168"/>
            <a:ext cx="12344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AEBED2"/>
                </a:solidFill>
                <a:latin typeface="Aptos"/>
              </a:rPr>
              <a:t>CUB-200-2011
image attributes + 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2240280"/>
            <a:ext cx="43891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600" b="1" i="0">
                <a:solidFill>
                  <a:srgbClr val="67E8F9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1463040"/>
            <a:ext cx="1417320" cy="1965960"/>
          </a:xfrm>
          <a:prstGeom prst="roundRect">
            <a:avLst/>
          </a:prstGeom>
          <a:solidFill>
            <a:srgbClr val="1E3552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87752" y="1627632"/>
            <a:ext cx="1234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464" y="2011680"/>
            <a:ext cx="1271016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2487168"/>
            <a:ext cx="12344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AEBED2"/>
                </a:solidFill>
                <a:latin typeface="Aptos"/>
              </a:rPr>
              <a:t>Pivot annotations into
312-feature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2776" y="2240280"/>
            <a:ext cx="43891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600" b="1" i="0">
                <a:solidFill>
                  <a:srgbClr val="67E8F9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1463040"/>
            <a:ext cx="1417320" cy="1965960"/>
          </a:xfrm>
          <a:prstGeom prst="roundRect">
            <a:avLst/>
          </a:prstGeom>
          <a:solidFill>
            <a:srgbClr val="1E3552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17136" y="1627632"/>
            <a:ext cx="1234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011680"/>
            <a:ext cx="1271016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2487168"/>
            <a:ext cx="12344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AEBED2"/>
                </a:solidFill>
                <a:latin typeface="Aptos"/>
              </a:rPr>
              <a:t>70% train / 30% test
random_state = 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240280"/>
            <a:ext cx="43891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600" b="1" i="0">
                <a:solidFill>
                  <a:srgbClr val="67E8F9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463040"/>
            <a:ext cx="1417320" cy="1965960"/>
          </a:xfrm>
          <a:prstGeom prst="roundRect">
            <a:avLst/>
          </a:prstGeom>
          <a:solidFill>
            <a:srgbClr val="1E3552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1627632"/>
            <a:ext cx="1234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011680"/>
            <a:ext cx="1271016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Train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487168"/>
            <a:ext cx="12344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AEBED2"/>
                </a:solidFill>
                <a:latin typeface="Aptos"/>
              </a:rPr>
              <a:t>Fit classifiers on
training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1544" y="2240280"/>
            <a:ext cx="43891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600" b="1" i="0">
                <a:solidFill>
                  <a:srgbClr val="67E8F9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1463040"/>
            <a:ext cx="1417320" cy="1965960"/>
          </a:xfrm>
          <a:prstGeom prst="roundRect">
            <a:avLst/>
          </a:prstGeom>
          <a:solidFill>
            <a:srgbClr val="1E3552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75904" y="1627632"/>
            <a:ext cx="1234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2011680"/>
            <a:ext cx="1271016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2487168"/>
            <a:ext cx="12344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AEBED2"/>
                </a:solidFill>
                <a:latin typeface="Aptos"/>
              </a:rPr>
              <a:t>Predict test labels;
calculate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2240280"/>
            <a:ext cx="43891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600" b="1" i="0">
                <a:solidFill>
                  <a:srgbClr val="67E8F9"/>
                </a:solidFill>
                <a:latin typeface="Apto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13848" y="1463040"/>
            <a:ext cx="1417320" cy="1965960"/>
          </a:xfrm>
          <a:prstGeom prst="roundRect">
            <a:avLst/>
          </a:prstGeom>
          <a:solidFill>
            <a:srgbClr val="1E3552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05288" y="1627632"/>
            <a:ext cx="1234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2DD4BF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2011680"/>
            <a:ext cx="1271016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Compare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05288" y="2487168"/>
            <a:ext cx="12344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AEBED2"/>
                </a:solidFill>
                <a:latin typeface="Aptos"/>
              </a:rPr>
              <a:t>Paper vs reproduction;
then extension model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977639"/>
            <a:ext cx="5303520" cy="1417320"/>
          </a:xfrm>
          <a:prstGeom prst="roundRect">
            <a:avLst/>
          </a:prstGeom>
          <a:solidFill>
            <a:srgbClr val="142742"/>
          </a:solidFill>
          <a:ln>
            <a:solidFill>
              <a:srgbClr val="14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4160520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Aptos"/>
              </a:rPr>
              <a:t>INPUT FEATURES (X)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4498848"/>
            <a:ext cx="4800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5F8FC"/>
                </a:solidFill>
                <a:latin typeface="Aptos"/>
              </a:rPr>
              <a:t>312 binary attribute values describing each bird
Shape: 11,788 samples × 312 features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6208" y="3977639"/>
            <a:ext cx="5303520" cy="1417320"/>
          </a:xfrm>
          <a:prstGeom prst="roundRect">
            <a:avLst/>
          </a:prstGeom>
          <a:solidFill>
            <a:srgbClr val="142742"/>
          </a:solidFill>
          <a:ln>
            <a:solidFill>
              <a:srgbClr val="14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73952" y="4160520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Aptos"/>
              </a:rPr>
              <a:t>TARGET (y)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4498848"/>
            <a:ext cx="4800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5F8FC"/>
                </a:solidFill>
                <a:latin typeface="Aptos"/>
              </a:rPr>
              <a:t>Class ID representing the bird species
200 unique classes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742432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ptos"/>
              </a:rPr>
              <a:t>The pipeline is attribute-based: image → annotated attributes → classifier → predicted species.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Dataset, Preprocessing &amp; Baseline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5440" y="210312"/>
            <a:ext cx="2423160" cy="292608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r"/>
            <a:r>
              <a:rPr sz="1000" b="1">
                <a:solidFill>
                  <a:srgbClr val="28CDBE"/>
                </a:solidFill>
                <a:latin typeface="Aptos"/>
              </a:rPr>
              <a:t>CURRENT NOTEBOOK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960120"/>
            <a:ext cx="5394960" cy="5257800"/>
          </a:xfrm>
          <a:prstGeom prst="roundRect">
            <a:avLst>
              <a:gd name="adj" fmla="val 8000"/>
            </a:avLst>
          </a:prstGeom>
          <a:solidFill>
            <a:srgbClr val="162744"/>
          </a:solidFill>
          <a:ln>
            <a:solidFill>
              <a:srgbClr val="45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9632" y="960120"/>
            <a:ext cx="5413248" cy="5257800"/>
          </a:xfrm>
          <a:prstGeom prst="roundRect">
            <a:avLst>
              <a:gd name="adj" fmla="val 8000"/>
            </a:avLst>
          </a:prstGeom>
          <a:solidFill>
            <a:srgbClr val="162744"/>
          </a:solidFill>
          <a:ln>
            <a:solidFill>
              <a:srgbClr val="45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115568"/>
            <a:ext cx="4892040" cy="32004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28CDBE"/>
                </a:solidFill>
                <a:latin typeface="Aptos"/>
              </a:rPr>
              <a:t>DATA &amp;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490472"/>
            <a:ext cx="4892040" cy="45262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Files used
• attributes/image_attribute_labels.txt — image ID, attribute ID, presence flag
• image_class_labels.txt — maps each image to a species class
Pipeline
1. Read whitespace-separated annotations
2. Pivot to one row per image and 312 attributes
3. Merge species labels; separate X and y
4. Stratified 70/30 train/test split
Dataset: CUB-200-2011 · 11,788 images · 200 species
X: 11,788 × 312 · Train: 8,251 · Test: 3,537
random_state = 42 · stratify = 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7376" y="1115568"/>
            <a:ext cx="4892040" cy="32004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28CDBE"/>
                </a:solidFill>
                <a:latin typeface="Aptos"/>
              </a:rPr>
              <a:t>FIVE MODELS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3429000" cy="292608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B7C4D5"/>
                </a:solidFill>
                <a:latin typeface="Aptos"/>
              </a:rPr>
              <a:t>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508760"/>
            <a:ext cx="1353312" cy="292608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r"/>
            <a:r>
              <a:rPr sz="1100" b="1">
                <a:solidFill>
                  <a:srgbClr val="B7C4D5"/>
                </a:solidFill>
                <a:latin typeface="Aptos"/>
              </a:rPr>
              <a:t>Test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1837943"/>
            <a:ext cx="4846320" cy="566928"/>
          </a:xfrm>
          <a:prstGeom prst="roundRect">
            <a:avLst>
              <a:gd name="adj" fmla="val 8000"/>
            </a:avLst>
          </a:prstGeom>
          <a:solidFill>
            <a:srgbClr val="1C314F"/>
          </a:solidFill>
          <a:ln>
            <a:solidFill>
              <a:srgbClr val="1C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874519"/>
            <a:ext cx="3246120" cy="43891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ptos"/>
              </a:rPr>
              <a:t>Bernoulli Naive Bayes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7232" y="1874519"/>
            <a:ext cx="1307592" cy="43891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r"/>
            <a:r>
              <a:rPr sz="1200" b="1">
                <a:solidFill>
                  <a:srgbClr val="28CDBE"/>
                </a:solidFill>
                <a:latin typeface="Aptos"/>
              </a:rPr>
              <a:t>45.60%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532887"/>
            <a:ext cx="3246120" cy="43891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ptos"/>
              </a:rPr>
              <a:t>K-Nearest Neighbors (k=5)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7232" y="2532887"/>
            <a:ext cx="1307592" cy="43891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r"/>
            <a:r>
              <a:rPr sz="1200" b="1">
                <a:solidFill>
                  <a:srgbClr val="28CDBE"/>
                </a:solidFill>
                <a:latin typeface="Aptos"/>
              </a:rPr>
              <a:t>33.50%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3154679"/>
            <a:ext cx="4846320" cy="566928"/>
          </a:xfrm>
          <a:prstGeom prst="roundRect">
            <a:avLst>
              <a:gd name="adj" fmla="val 8000"/>
            </a:avLst>
          </a:prstGeom>
          <a:solidFill>
            <a:srgbClr val="1C314F"/>
          </a:solidFill>
          <a:ln>
            <a:solidFill>
              <a:srgbClr val="1C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3191256"/>
            <a:ext cx="3246120" cy="43891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ptos"/>
              </a:rPr>
              <a:t>Decision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7232" y="3191256"/>
            <a:ext cx="1307592" cy="43891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r"/>
            <a:r>
              <a:rPr sz="1200" b="1">
                <a:solidFill>
                  <a:srgbClr val="28CDBE"/>
                </a:solidFill>
                <a:latin typeface="Aptos"/>
              </a:rPr>
              <a:t>26.89%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849624"/>
            <a:ext cx="3246120" cy="43891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ptos"/>
              </a:rPr>
              <a:t>Random Forest (100 trees)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3849624"/>
            <a:ext cx="1307592" cy="43891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r"/>
            <a:r>
              <a:rPr sz="1200" b="1">
                <a:solidFill>
                  <a:srgbClr val="28CDBE"/>
                </a:solidFill>
                <a:latin typeface="Aptos"/>
              </a:rPr>
              <a:t>46.59%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4471416"/>
            <a:ext cx="4846320" cy="566928"/>
          </a:xfrm>
          <a:prstGeom prst="roundRect">
            <a:avLst>
              <a:gd name="adj" fmla="val 8000"/>
            </a:avLst>
          </a:prstGeom>
          <a:solidFill>
            <a:srgbClr val="1C314F"/>
          </a:solidFill>
          <a:ln>
            <a:solidFill>
              <a:srgbClr val="1C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9672" y="4507992"/>
            <a:ext cx="3246120" cy="43891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ptos"/>
              </a:rPr>
              <a:t>Linear Discriminant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7232" y="4507992"/>
            <a:ext cx="1307592" cy="43891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r"/>
            <a:r>
              <a:rPr sz="1200" b="1">
                <a:solidFill>
                  <a:srgbClr val="28CDBE"/>
                </a:solidFill>
                <a:latin typeface="Aptos"/>
              </a:rPr>
              <a:t>46.76%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413248"/>
            <a:ext cx="4846320" cy="50292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B7C4D5"/>
                </a:solidFill>
                <a:latin typeface="Aptos"/>
              </a:rPr>
              <a:t>Preliminary notebook results; reference-paper reproduction is still in progress.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9875520" cy="16459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800" b="0">
                <a:solidFill>
                  <a:srgbClr val="B7C4D5"/>
                </a:solidFill>
                <a:latin typeface="Aptos"/>
              </a:rPr>
              <a:t>Bird Species Identification from an Image  ·  Machine Learning Mini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r"/>
            <a:r>
              <a:rPr sz="900" b="0">
                <a:solidFill>
                  <a:srgbClr val="B7C4D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8046720" cy="50292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Part 1: Reproduced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5440" y="210312"/>
            <a:ext cx="2423160" cy="292608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r"/>
            <a:r>
              <a:rPr sz="1000" b="1">
                <a:solidFill>
                  <a:srgbClr val="28CDBE"/>
                </a:solidFill>
                <a:latin typeface="Aptos"/>
              </a:rPr>
              <a:t>PART 1 · REPRODUCE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3066"/>
            <a:ext cx="2592184" cy="236988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lang="en-IN" sz="1300" b="1" dirty="0">
                <a:solidFill>
                  <a:srgbClr val="28CDBE"/>
                </a:solidFill>
                <a:latin typeface="Aptos"/>
              </a:rPr>
              <a:t>PAPER’S </a:t>
            </a:r>
            <a:r>
              <a:rPr sz="1300" b="1" dirty="0">
                <a:solidFill>
                  <a:srgbClr val="28CDBE"/>
                </a:solidFill>
                <a:latin typeface="Aptos"/>
              </a:rPr>
              <a:t>TESTING ACCURACY (%)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8136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solidFill>
                      <a:srgbClr val="28CD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Testing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73152" marR="73152" marT="27432" marB="27432" anchor="ctr">
                    <a:solidFill>
                      <a:srgbClr val="28CD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Using PCA</a:t>
                      </a:r>
                    </a:p>
                  </a:txBody>
                  <a:tcPr marL="73152" marR="73152" marT="27432" marB="27432" anchor="ctr">
                    <a:solidFill>
                      <a:srgbClr val="28CD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Using Feature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Selection</a:t>
                      </a:r>
                    </a:p>
                  </a:txBody>
                  <a:tcPr marL="73152" marR="73152" marT="27432" marB="27432" anchor="ctr">
                    <a:solidFill>
                      <a:srgbClr val="28CD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Using PCA +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Feature Selection</a:t>
                      </a:r>
                    </a:p>
                  </a:txBody>
                  <a:tcPr marL="73152" marR="73152" marT="27432" marB="27432" anchor="ctr">
                    <a:solidFill>
                      <a:srgbClr val="28CD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Naive Bayes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8FC"/>
                          </a:solidFill>
                          <a:latin typeface="Aptos"/>
                        </a:rPr>
                        <a:t>19.22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KNN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8FC"/>
                          </a:solidFill>
                          <a:latin typeface="Aptos"/>
                        </a:rPr>
                        <a:t>31.18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Decision Trees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8FC"/>
                          </a:solidFill>
                          <a:latin typeface="Aptos"/>
                        </a:rPr>
                        <a:t>24.35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Random Forests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8FC"/>
                          </a:solidFill>
                          <a:latin typeface="Aptos"/>
                        </a:rPr>
                        <a:t>33.58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LDA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8FC"/>
                          </a:solidFill>
                          <a:latin typeface="Aptos"/>
                        </a:rPr>
                        <a:t>45.44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47.81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47.70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47.38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SVM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8FC"/>
                          </a:solidFill>
                          <a:latin typeface="Aptos"/>
                        </a:rPr>
                        <a:t>43.91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48.74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49.11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46.93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8FC"/>
                          </a:solidFill>
                          <a:latin typeface="Aptos"/>
                        </a:rPr>
                        <a:t>51.61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53.31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51.02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53.65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900" b="0">
                <a:solidFill>
                  <a:srgbClr val="B7C4D5"/>
                </a:solidFill>
                <a:latin typeface="Aptos"/>
              </a:rPr>
              <a:t>— = no value shown for that experiment in the reference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875520" cy="16459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800" b="0">
                <a:solidFill>
                  <a:srgbClr val="B7C4D5"/>
                </a:solidFill>
                <a:latin typeface="Aptos"/>
              </a:rPr>
              <a:t>Bird Species Identification from an Image  ·  Machine Learning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r"/>
            <a:r>
              <a:rPr sz="900" b="0">
                <a:solidFill>
                  <a:srgbClr val="B7C4D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302E4-FD7A-FFEC-E73B-F47C1CEF9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E17CB5-9790-CC4E-A8DA-3480BEEFBA0E}"/>
              </a:ext>
            </a:extLst>
          </p:cNvPr>
          <p:cNvSpPr txBox="1"/>
          <p:nvPr/>
        </p:nvSpPr>
        <p:spPr>
          <a:xfrm>
            <a:off x="502920" y="182880"/>
            <a:ext cx="8046720" cy="50292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Part 1: Reproduced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AF526-4F51-C68D-65DA-04C68BCB6C87}"/>
              </a:ext>
            </a:extLst>
          </p:cNvPr>
          <p:cNvSpPr txBox="1"/>
          <p:nvPr/>
        </p:nvSpPr>
        <p:spPr>
          <a:xfrm>
            <a:off x="9235440" y="210312"/>
            <a:ext cx="2423160" cy="292608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r"/>
            <a:r>
              <a:rPr sz="1000" b="1">
                <a:solidFill>
                  <a:srgbClr val="28CDBE"/>
                </a:solidFill>
                <a:latin typeface="Aptos"/>
              </a:rPr>
              <a:t>PART 1 · REPRODUCE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8E4625-268E-7E12-1BB2-2BB2014F2C30}"/>
              </a:ext>
            </a:extLst>
          </p:cNvPr>
          <p:cNvSpPr txBox="1"/>
          <p:nvPr/>
        </p:nvSpPr>
        <p:spPr>
          <a:xfrm>
            <a:off x="658368" y="868680"/>
            <a:ext cx="10881360" cy="36576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28CDBE"/>
                </a:solidFill>
                <a:latin typeface="Aptos"/>
              </a:rPr>
              <a:t>REPORTED TESTING ACCURACY (%)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D062BC-0B3C-47FA-4E66-7904AF567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111659"/>
              </p:ext>
            </p:extLst>
          </p:nvPr>
        </p:nvGraphicFramePr>
        <p:xfrm>
          <a:off x="658368" y="1371600"/>
          <a:ext cx="1088136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solidFill>
                      <a:srgbClr val="28CD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Testing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73152" marR="73152" marT="27432" marB="27432" anchor="ctr">
                    <a:solidFill>
                      <a:srgbClr val="28CD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Using PCA</a:t>
                      </a:r>
                    </a:p>
                  </a:txBody>
                  <a:tcPr marL="73152" marR="73152" marT="27432" marB="27432" anchor="ctr">
                    <a:solidFill>
                      <a:srgbClr val="28CD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Using Feature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Selection</a:t>
                      </a:r>
                    </a:p>
                  </a:txBody>
                  <a:tcPr marL="73152" marR="73152" marT="27432" marB="27432" anchor="ctr">
                    <a:solidFill>
                      <a:srgbClr val="28CD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Using PCA +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0F1930"/>
                          </a:solidFill>
                          <a:latin typeface="Aptos"/>
                        </a:rPr>
                        <a:t>Feature Selection</a:t>
                      </a:r>
                    </a:p>
                  </a:txBody>
                  <a:tcPr marL="73152" marR="73152" marT="27432" marB="27432" anchor="ctr">
                    <a:solidFill>
                      <a:srgbClr val="28CD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Naive Bayes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solidFill>
                            <a:srgbClr val="F5F8FC"/>
                          </a:solidFill>
                          <a:latin typeface="Aptos"/>
                        </a:rPr>
                        <a:t>45.6</a:t>
                      </a:r>
                      <a:endParaRPr sz="1300" b="1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KNN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solidFill>
                            <a:srgbClr val="F5F8FC"/>
                          </a:solidFill>
                          <a:latin typeface="Aptos"/>
                        </a:rPr>
                        <a:t>32.06</a:t>
                      </a:r>
                      <a:endParaRPr sz="1300" b="1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Decision Trees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solidFill>
                            <a:srgbClr val="F5F8FC"/>
                          </a:solidFill>
                          <a:latin typeface="Aptos"/>
                        </a:rPr>
                        <a:t>23.52</a:t>
                      </a:r>
                      <a:endParaRPr sz="1300" b="1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Random Forests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5F8FC"/>
                          </a:solidFill>
                          <a:latin typeface="Aptos"/>
                        </a:rPr>
                        <a:t>33.5</a:t>
                      </a:r>
                      <a:r>
                        <a:rPr lang="en-IN" sz="1300" b="1" dirty="0">
                          <a:solidFill>
                            <a:srgbClr val="F5F8FC"/>
                          </a:solidFill>
                          <a:latin typeface="Aptos"/>
                        </a:rPr>
                        <a:t>8</a:t>
                      </a:r>
                      <a:endParaRPr sz="1300" b="1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LDA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5F8FC"/>
                          </a:solidFill>
                          <a:latin typeface="Aptos"/>
                        </a:rPr>
                        <a:t>4</a:t>
                      </a:r>
                      <a:r>
                        <a:rPr lang="en-IN" sz="1300" b="1" dirty="0">
                          <a:solidFill>
                            <a:srgbClr val="F5F8FC"/>
                          </a:solidFill>
                          <a:latin typeface="Aptos"/>
                        </a:rPr>
                        <a:t>6.76</a:t>
                      </a:r>
                      <a:endParaRPr sz="1300" b="1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dirty="0">
                          <a:solidFill>
                            <a:srgbClr val="F5F8FC"/>
                          </a:solidFill>
                          <a:latin typeface="Aptos"/>
                        </a:rPr>
                        <a:t>46.79</a:t>
                      </a:r>
                      <a:endParaRPr sz="1300" b="0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F5F8FC"/>
                          </a:solidFill>
                          <a:latin typeface="Aptos"/>
                        </a:rPr>
                        <a:t>4</a:t>
                      </a:r>
                      <a:r>
                        <a:rPr lang="en-IN" sz="1300" b="0" dirty="0">
                          <a:solidFill>
                            <a:srgbClr val="F5F8FC"/>
                          </a:solidFill>
                          <a:latin typeface="Aptos"/>
                        </a:rPr>
                        <a:t>6.59</a:t>
                      </a:r>
                      <a:endParaRPr sz="1300" b="0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dirty="0">
                          <a:solidFill>
                            <a:srgbClr val="F5F8FC"/>
                          </a:solidFill>
                          <a:latin typeface="Aptos"/>
                        </a:rPr>
                        <a:t>47.19</a:t>
                      </a:r>
                      <a:endParaRPr sz="1300" b="0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SVM</a:t>
                      </a: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5F8FC"/>
                          </a:solidFill>
                          <a:latin typeface="Aptos"/>
                        </a:rPr>
                        <a:t>43.</a:t>
                      </a:r>
                      <a:r>
                        <a:rPr lang="en-IN" sz="1300" b="1" dirty="0">
                          <a:solidFill>
                            <a:srgbClr val="F5F8FC"/>
                          </a:solidFill>
                          <a:latin typeface="Aptos"/>
                        </a:rPr>
                        <a:t>99</a:t>
                      </a:r>
                      <a:endParaRPr sz="1300" b="1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dirty="0">
                          <a:solidFill>
                            <a:srgbClr val="F5F8FC"/>
                          </a:solidFill>
                          <a:latin typeface="Aptos"/>
                        </a:rPr>
                        <a:t>47.34</a:t>
                      </a:r>
                      <a:endParaRPr sz="1300" b="0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dirty="0">
                          <a:solidFill>
                            <a:srgbClr val="F5F8FC"/>
                          </a:solidFill>
                          <a:latin typeface="Aptos"/>
                        </a:rPr>
                        <a:t>49.79</a:t>
                      </a:r>
                      <a:endParaRPr sz="1300" b="0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dirty="0">
                          <a:solidFill>
                            <a:srgbClr val="F5F8FC"/>
                          </a:solidFill>
                          <a:latin typeface="Aptos"/>
                        </a:rPr>
                        <a:t>45.72</a:t>
                      </a:r>
                      <a:endParaRPr sz="1300" b="0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B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F5F8FC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solidFill>
                            <a:srgbClr val="F5F8FC"/>
                          </a:solidFill>
                          <a:latin typeface="Aptos"/>
                        </a:rPr>
                        <a:t>50.94</a:t>
                      </a:r>
                      <a:endParaRPr sz="1300" b="1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dirty="0">
                          <a:solidFill>
                            <a:srgbClr val="F5F8FC"/>
                          </a:solidFill>
                          <a:latin typeface="Aptos"/>
                        </a:rPr>
                        <a:t>51.63</a:t>
                      </a:r>
                      <a:endParaRPr sz="1300" b="0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dirty="0">
                          <a:solidFill>
                            <a:srgbClr val="F5F8FC"/>
                          </a:solidFill>
                          <a:latin typeface="Aptos"/>
                        </a:rPr>
                        <a:t>51.00</a:t>
                      </a:r>
                      <a:endParaRPr sz="1300" b="0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dirty="0">
                          <a:solidFill>
                            <a:srgbClr val="F5F8FC"/>
                          </a:solidFill>
                          <a:latin typeface="Aptos"/>
                        </a:rPr>
                        <a:t>48</a:t>
                      </a:r>
                      <a:r>
                        <a:rPr sz="1300" b="0" dirty="0">
                          <a:solidFill>
                            <a:srgbClr val="F5F8FC"/>
                          </a:solidFill>
                          <a:latin typeface="Aptos"/>
                        </a:rPr>
                        <a:t>.</a:t>
                      </a:r>
                      <a:r>
                        <a:rPr lang="en-IN" sz="1300" b="0" dirty="0">
                          <a:solidFill>
                            <a:srgbClr val="F5F8FC"/>
                          </a:solidFill>
                          <a:latin typeface="Aptos"/>
                        </a:rPr>
                        <a:t>88</a:t>
                      </a:r>
                      <a:endParaRPr sz="1300" b="0" dirty="0">
                        <a:solidFill>
                          <a:srgbClr val="F5F8FC"/>
                        </a:solidFill>
                        <a:latin typeface="Aptos"/>
                      </a:endParaRPr>
                    </a:p>
                  </a:txBody>
                  <a:tcPr marL="73152" marR="73152" marT="27432" marB="27432" anchor="ctr">
                    <a:solidFill>
                      <a:srgbClr val="16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00F83C6-1145-D151-10A8-DDB8B9A5BD86}"/>
              </a:ext>
            </a:extLst>
          </p:cNvPr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900" b="0">
                <a:solidFill>
                  <a:srgbClr val="B7C4D5"/>
                </a:solidFill>
                <a:latin typeface="Aptos"/>
              </a:rPr>
              <a:t>— = no value shown for that experiment in the reference table.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2A9869-03B6-0525-ABAD-2C90F151D7B1}"/>
              </a:ext>
            </a:extLst>
          </p:cNvPr>
          <p:cNvSpPr txBox="1"/>
          <p:nvPr/>
        </p:nvSpPr>
        <p:spPr>
          <a:xfrm>
            <a:off x="548640" y="6510528"/>
            <a:ext cx="9875520" cy="16459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800" b="0">
                <a:solidFill>
                  <a:srgbClr val="B7C4D5"/>
                </a:solidFill>
                <a:latin typeface="Aptos"/>
              </a:rPr>
              <a:t>Bird Species Identification from an Image  ·  Machine Learning Mini 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251B08-BF39-D8C0-426A-FE0C97D13F59}"/>
              </a:ext>
            </a:extLst>
          </p:cNvPr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r"/>
            <a:r>
              <a:rPr sz="900" b="0">
                <a:solidFill>
                  <a:srgbClr val="B7C4D5"/>
                </a:solidFill>
                <a:latin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15165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80467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Part 2: Additional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5440" y="219456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2DD4BF"/>
                </a:solidFill>
                <a:latin typeface="Aptos"/>
              </a:rPr>
              <a:t>PART 2 · EXTEND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95528"/>
            <a:ext cx="1110996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EBED2"/>
                </a:solidFill>
                <a:latin typeface="Aptos"/>
              </a:rPr>
              <a:t>Bird Species Identification from an Image  ·  Machine Learning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7C4D5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5F8FC"/>
                </a:solidFill>
                <a:latin typeface="Aptos"/>
              </a:rPr>
              <a:t>One model not used in the reference paper will be added after the reproduction baseline is 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5166360" cy="2331720"/>
          </a:xfrm>
          <a:prstGeom prst="roundRect">
            <a:avLst/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663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Aptos"/>
              </a:rPr>
              <a:t>PROPOSED ADD-ON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46634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XGBoost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45720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AEBED2"/>
                </a:solidFill>
                <a:latin typeface="Aptos"/>
              </a:rPr>
              <a:t>Gradient-boosted decision trees for structured attribute data. Final choice should be checked against the exact models discussed in the reference.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166360" cy="2331720"/>
          </a:xfrm>
          <a:prstGeom prst="roundRect">
            <a:avLst/>
          </a:prstGeom>
          <a:solidFill>
            <a:srgbClr val="142742"/>
          </a:solidFill>
          <a:ln>
            <a:solidFill>
              <a:srgbClr val="14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2057400"/>
            <a:ext cx="4663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Aptos"/>
              </a:rPr>
              <a:t>FAIR COMPARISON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468880"/>
            <a:ext cx="4572000" cy="1463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Use the same features and train/test split.</a:t>
            </a:r>
          </a:p>
          <a:p>
            <a:pPr>
              <a:spcAft>
                <a:spcPts val="7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Use accuracy as the primary metric.</a:t>
            </a:r>
          </a:p>
          <a:p>
            <a:pPr>
              <a:spcAft>
                <a:spcPts val="7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Optionally report macro-F1 and confusion matrix.</a:t>
            </a:r>
          </a:p>
          <a:p>
            <a:pPr>
              <a:spcAft>
                <a:spcPts val="7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Compare with reference models and explain differences.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754880"/>
            <a:ext cx="106984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ptos"/>
              </a:rPr>
              <a:t>Extension results and model justification will be added after training and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138160" cy="53035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Conclusion &amp; XGBoost Extension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06840" y="210312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28CDBE"/>
          </a:solidFill>
          <a:ln>
            <a:solidFill>
              <a:srgbClr val="2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79992" y="219456"/>
            <a:ext cx="2176272" cy="35661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000" b="1">
                <a:solidFill>
                  <a:srgbClr val="0F1930"/>
                </a:solidFill>
                <a:latin typeface="Aptos"/>
              </a:rPr>
              <a:t>PART 2 · EXTEND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1109960" cy="50292"/>
          </a:xfrm>
          <a:prstGeom prst="rect">
            <a:avLst/>
          </a:prstGeom>
          <a:solidFill>
            <a:srgbClr val="28CDBE"/>
          </a:solidFill>
          <a:ln>
            <a:solidFill>
              <a:srgbClr val="28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2743200" cy="1170432"/>
          </a:xfrm>
          <a:prstGeom prst="roundRect">
            <a:avLst>
              <a:gd name="adj" fmla="val 8000"/>
            </a:avLst>
          </a:prstGeom>
          <a:solidFill>
            <a:srgbClr val="162744"/>
          </a:solidFill>
          <a:ln>
            <a:solidFill>
              <a:srgbClr val="45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2377440" cy="30175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100" b="1">
                <a:solidFill>
                  <a:srgbClr val="28CDBE"/>
                </a:solidFill>
                <a:latin typeface="Aptos"/>
              </a:rPr>
              <a:t>XGBOOST 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08760"/>
            <a:ext cx="2377440" cy="53035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3000" b="1">
                <a:solidFill>
                  <a:srgbClr val="F5F8FC"/>
                </a:solidFill>
                <a:latin typeface="Aptos"/>
              </a:rPr>
              <a:t>49.39%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2377440" cy="2286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900" b="0">
                <a:solidFill>
                  <a:srgbClr val="B7C4D5"/>
                </a:solidFill>
                <a:latin typeface="Aptos"/>
              </a:rPr>
              <a:t>200 bird species · 3,537 test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078992"/>
            <a:ext cx="3794760" cy="2880360"/>
          </a:xfrm>
          <a:prstGeom prst="roundRect">
            <a:avLst>
              <a:gd name="adj" fmla="val 8000"/>
            </a:avLst>
          </a:prstGeom>
          <a:solidFill>
            <a:srgbClr val="162744"/>
          </a:solidFill>
          <a:ln>
            <a:solidFill>
              <a:srgbClr val="45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67328" y="1225296"/>
            <a:ext cx="3337560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300" b="1">
                <a:solidFill>
                  <a:srgbClr val="28CDBE"/>
                </a:solidFill>
                <a:latin typeface="Aptos"/>
              </a:rPr>
              <a:t>MODEL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1627632"/>
            <a:ext cx="20574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100" b="0">
                <a:solidFill>
                  <a:srgbClr val="B7C4D5"/>
                </a:solidFill>
                <a:latin typeface="Aptos"/>
              </a:rPr>
              <a:t>n_estimators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627632"/>
            <a:ext cx="11430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1100" b="1">
                <a:solidFill>
                  <a:srgbClr val="F5F8FC"/>
                </a:solidFill>
                <a:latin typeface="Aptos"/>
              </a:rPr>
              <a:t>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1938528"/>
            <a:ext cx="20574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100" b="0">
                <a:solidFill>
                  <a:srgbClr val="B7C4D5"/>
                </a:solidFill>
                <a:latin typeface="Aptos"/>
              </a:rPr>
              <a:t>max_depth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1938528"/>
            <a:ext cx="11430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1100" b="1">
                <a:solidFill>
                  <a:srgbClr val="F5F8FC"/>
                </a:solidFill>
                <a:latin typeface="Aptos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249424"/>
            <a:ext cx="20574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100" b="0">
                <a:solidFill>
                  <a:srgbClr val="B7C4D5"/>
                </a:solidFill>
                <a:latin typeface="Aptos"/>
              </a:rPr>
              <a:t>learning_rate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2249424"/>
            <a:ext cx="11430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1100" b="1">
                <a:solidFill>
                  <a:srgbClr val="F5F8FC"/>
                </a:solidFill>
                <a:latin typeface="Aptos"/>
              </a:rPr>
              <a:t>0.1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2560320"/>
            <a:ext cx="20574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100" b="0">
                <a:solidFill>
                  <a:srgbClr val="B7C4D5"/>
                </a:solidFill>
                <a:latin typeface="Aptos"/>
              </a:rPr>
              <a:t>subsample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2560320"/>
            <a:ext cx="11430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1100" b="1">
                <a:solidFill>
                  <a:srgbClr val="F5F8FC"/>
                </a:solidFill>
                <a:latin typeface="Aptos"/>
              </a:rPr>
              <a:t>0.8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2871216"/>
            <a:ext cx="20574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100" b="0">
                <a:solidFill>
                  <a:srgbClr val="B7C4D5"/>
                </a:solidFill>
                <a:latin typeface="Aptos"/>
              </a:rPr>
              <a:t>colsample_bytree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2871216"/>
            <a:ext cx="11430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1100" b="1">
                <a:solidFill>
                  <a:srgbClr val="F5F8FC"/>
                </a:solidFill>
                <a:latin typeface="Aptos"/>
              </a:rPr>
              <a:t>0.8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7328" y="3182112"/>
            <a:ext cx="20574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100" b="0">
                <a:solidFill>
                  <a:srgbClr val="B7C4D5"/>
                </a:solidFill>
                <a:latin typeface="Aptos"/>
              </a:rPr>
              <a:t>random_state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182112"/>
            <a:ext cx="11430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1100" b="1">
                <a:solidFill>
                  <a:srgbClr val="F5F8FC"/>
                </a:solidFill>
                <a:latin typeface="Aptos"/>
              </a:rPr>
              <a:t>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3493008"/>
            <a:ext cx="20574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100" b="0">
                <a:solidFill>
                  <a:srgbClr val="B7C4D5"/>
                </a:solidFill>
                <a:latin typeface="Aptos"/>
              </a:rPr>
              <a:t>eval_metric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3493008"/>
            <a:ext cx="11430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1100" b="1">
                <a:solidFill>
                  <a:srgbClr val="F5F8FC"/>
                </a:solidFill>
                <a:latin typeface="Aptos"/>
              </a:rPr>
              <a:t>mlogloss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71231" y="1078992"/>
            <a:ext cx="4041648" cy="2880360"/>
          </a:xfrm>
          <a:prstGeom prst="roundRect">
            <a:avLst>
              <a:gd name="adj" fmla="val 8000"/>
            </a:avLst>
          </a:prstGeom>
          <a:solidFill>
            <a:srgbClr val="162744"/>
          </a:solidFill>
          <a:ln>
            <a:solidFill>
              <a:srgbClr val="45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99831" y="1225296"/>
            <a:ext cx="3566160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300" b="1">
                <a:solidFill>
                  <a:srgbClr val="28CDBE"/>
                </a:solidFill>
                <a:latin typeface="Aptos"/>
              </a:rPr>
              <a:t>KEY FINDINGS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1664208"/>
            <a:ext cx="201168" cy="29260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700" b="1">
                <a:solidFill>
                  <a:srgbClr val="28CDBE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1664208"/>
            <a:ext cx="3246120" cy="43891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XGBoost was added as the project's extension model.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2185416"/>
            <a:ext cx="201168" cy="29260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700" b="1">
                <a:solidFill>
                  <a:srgbClr val="28CDBE"/>
                </a:solidFill>
                <a:latin typeface="Apto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2185416"/>
            <a:ext cx="3246120" cy="43891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It achieved 49.39% accuracy on the held-out test set.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2706624"/>
            <a:ext cx="201168" cy="29260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700" b="1">
                <a:solidFill>
                  <a:srgbClr val="28CDBE"/>
                </a:solidFill>
                <a:latin typeface="Apto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2706624"/>
            <a:ext cx="3246120" cy="43891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Results should be compared using the same features, split and metric.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3227832"/>
            <a:ext cx="201168" cy="29260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700" b="1">
                <a:solidFill>
                  <a:srgbClr val="28CDBE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8" y="3227832"/>
            <a:ext cx="3246120" cy="43891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Reference-paper results and our reproduction can differ due to implementation and preprocessing choices.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224528"/>
            <a:ext cx="11045952" cy="804672"/>
          </a:xfrm>
          <a:prstGeom prst="roundRect">
            <a:avLst>
              <a:gd name="adj" fmla="val 8000"/>
            </a:avLst>
          </a:prstGeom>
          <a:solidFill>
            <a:srgbClr val="1C314F"/>
          </a:solidFill>
          <a:ln>
            <a:solidFill>
              <a:srgbClr val="1C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4343400"/>
            <a:ext cx="1417320" cy="3200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200" b="1">
                <a:solidFill>
                  <a:srgbClr val="28CDBE"/>
                </a:solidFill>
                <a:latin typeface="Aptos"/>
              </a:rPr>
              <a:t>CONCLUSION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4279392"/>
            <a:ext cx="9098280" cy="5943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ptos"/>
              </a:rPr>
              <a:t>The notebook currently classifies birds from 312 annotated attributes rather than raw image pixels. XGBoost provides an additional benchmark; its 49.39% test accuracy should be interpreted alongside the reference models and the paper's reported experiments.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257800"/>
            <a:ext cx="11045952" cy="868680"/>
          </a:xfrm>
          <a:prstGeom prst="roundRect">
            <a:avLst>
              <a:gd name="adj" fmla="val 8000"/>
            </a:avLst>
          </a:prstGeom>
          <a:solidFill>
            <a:srgbClr val="E8F0F7"/>
          </a:solidFill>
          <a:ln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8" y="5321808"/>
            <a:ext cx="1188720" cy="2286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000" b="1">
                <a:solidFill>
                  <a:srgbClr val="1F4B84"/>
                </a:solidFill>
                <a:latin typeface="Aptos"/>
              </a:rPr>
              <a:t>REFERENCES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5559552"/>
            <a:ext cx="10652760" cy="475488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900" b="0">
                <a:solidFill>
                  <a:srgbClr val="0F1930"/>
                </a:solidFill>
                <a:latin typeface="Aptos"/>
              </a:rPr>
              <a:t>1. “Bird Species Identification from an Image” (reference study).  2. CUB-200-2011 dataset (Caltech–UCSD Birds).  3. XGBoost and scikit-learn documentation.  4. Project notebook and XGBoost evaluation output.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10528"/>
            <a:ext cx="9875520" cy="16459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800" b="0">
                <a:solidFill>
                  <a:srgbClr val="B7C4D5"/>
                </a:solidFill>
                <a:latin typeface="Aptos"/>
              </a:rPr>
              <a:t>Bird Species Identification from an Image  ·  Machine Learning Mini 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900" b="0">
                <a:solidFill>
                  <a:srgbClr val="B7C4D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1003</Words>
  <Application>Microsoft Office PowerPoint</Application>
  <PresentationFormat>Widescreen</PresentationFormat>
  <Paragraphs>228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Raksh Poojary</cp:lastModifiedBy>
  <cp:revision>3</cp:revision>
  <dcterms:created xsi:type="dcterms:W3CDTF">2013-01-27T09:14:16Z</dcterms:created>
  <dcterms:modified xsi:type="dcterms:W3CDTF">2026-10-15T04:50:42Z</dcterms:modified>
  <cp:category/>
</cp:coreProperties>
</file>